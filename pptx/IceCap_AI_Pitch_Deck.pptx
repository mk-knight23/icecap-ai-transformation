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Private Lending Market Growth ($T)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($T)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948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</c:v>
                </c:pt>
                <c:pt idx="1">
                  <c:v>1.1</c:v>
                </c:pt>
                <c:pt idx="2">
                  <c:v>1.3</c:v>
                </c:pt>
                <c:pt idx="3">
                  <c:v>1.5</c:v>
                </c:pt>
                <c:pt idx="4">
                  <c:v>1.75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948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Why Borrowers Choose Lenders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Why borrowers choose lender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bubble3D val="0"/>
            <c:spPr>
              <a:solidFill>
                <a:srgbClr val="F43F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Speed</c:v>
                </c:pt>
                <c:pt idx="1">
                  <c:v>Rate</c:v>
                </c:pt>
                <c:pt idx="2">
                  <c:v>Relationship</c:v>
                </c:pt>
                <c:pt idx="3">
                  <c:v>Flexibility</c:v>
                </c:pt>
                <c:pt idx="4">
                  <c:v>Brand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22</c:v>
                </c:pt>
                <c:pt idx="2">
                  <c:v>20</c:v>
                </c:pt>
                <c:pt idx="3">
                  <c:v>13</c:v>
                </c:pt>
                <c:pt idx="4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 rates</c:v>
                </c:pt>
              </c:strCache>
            </c:strRef>
          </c:tx>
          <c:spPr>
            <a:solidFill>
              <a:srgbClr val="94A3B8"/>
            </a:solidFill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6.2</c:v>
                </c:pt>
                <c:pt idx="1">
                  <c:v>6.2</c:v>
                </c:pt>
                <c:pt idx="2">
                  <c:v>6.2</c:v>
                </c:pt>
                <c:pt idx="3">
                  <c:v>6.2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pricing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6.8</c:v>
                </c:pt>
                <c:pt idx="1">
                  <c:v>6.5</c:v>
                </c:pt>
                <c:pt idx="2">
                  <c:v>5.9</c:v>
                </c:pt>
                <c:pt idx="3">
                  <c:v>6.1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2880"/>
            <a:ext cx="548640" cy="54864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731520"/>
            <a:ext cx="365760" cy="365760"/>
          </a:xfrm>
          <a:prstGeom prst="ellipse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91440"/>
            <a:ext cx="228600" cy="228600"/>
          </a:xfrm>
          <a:prstGeom prst="ellipse">
            <a:avLst/>
          </a:prstGeom>
          <a:solidFill>
            <a:srgbClr val="0D9488">
              <a:alpha val="65000"/>
            </a:srgbClr>
          </a:solidFill>
          <a:ln w="12700">
            <a:solidFill>
              <a:srgbClr val="0D9488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IceCap AI Platform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Private Real Estate Lending with AI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3657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$1.1B funded  •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Award-winning lender  • 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50+ states  •  24-hr CTC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AI Engineer Strategic Pitch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Private lending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market size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05840"/>
            <a:ext cx="192024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YoY loan origination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growth 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19202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Borrowers choose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lenders by SPEED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0058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005840"/>
            <a:ext cx="192024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28.7%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49440" y="1920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Avg fix-and-flip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investor ROI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83464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5943600" y="2834640"/>
          <a:ext cx="29260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 &amp; AI Gap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0116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Lender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AI Adoption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Close Speed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Volume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IceCap Group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Minimal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24-hr CTC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$1.1B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Kiavi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Advanced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7-10 days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$23B+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LendingOne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10-14 days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$5B+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RCN Capital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Minimal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10-14 days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$4B+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Conventus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Minimal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14-21 days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$2B+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⚠  Kiavi leads with AI-powered underwriting &amp; dynamic pricing — IceCap has 18-month window to leapfrog with bespoke AI.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IceAI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B8A6"/>
                </a:solidFill>
              </a:rPr>
              <a:t>Four AI modules. One integrated platform. Supercharging every touchpoint.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931920" cy="1371600"/>
          </a:xfrm>
          <a:prstGeom prst="rect">
            <a:avLst/>
          </a:prstGeom>
          <a:solidFill>
            <a:srgbClr val="142032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16459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556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103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Intelligent document processing. Auto-extracts fields from bank statements, appraisals, purchase contracts into Salesforce in &lt;5 min.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931920" cy="1371600"/>
          </a:xfrm>
          <a:prstGeom prst="rect">
            <a:avLst/>
          </a:prstGeom>
          <a:solidFill>
            <a:srgbClr val="142032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45920"/>
            <a:ext cx="164592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7556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UnderwriteAI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19472" y="2103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AI underwriting memo generator. Reads extracted data, flags risk, writes first-draft commitment letter in minutes.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3931920" cy="1371600"/>
          </a:xfrm>
          <a:prstGeom prst="rect">
            <a:avLst/>
          </a:prstGeom>
          <a:solidFill>
            <a:srgbClr val="14203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91840"/>
            <a:ext cx="16459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015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" y="37490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24/7 broker assistant. Instant eligibility checks, rate estimates, deal tracking without calling an AE.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3931920" cy="1371600"/>
          </a:xfrm>
          <a:prstGeom prst="rect">
            <a:avLst/>
          </a:prstGeom>
          <a:solidFill>
            <a:srgbClr val="14203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91840"/>
            <a:ext cx="16459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4015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PriceAI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19472" y="37490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Dynamic loan pricing engine. ML model trained on IceCap's deal history for real-time intelligent rate sheets.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 — DocAI: Document Intelligence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960120"/>
            <a:ext cx="640080" cy="6400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Upload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Broker submits docs via portal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47672" y="128016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161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14600" y="9601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11680" y="169164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Extract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2148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Vision AI reads PDFs, images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85032" y="128016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1161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51960" y="96012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49040" y="169164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Validate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2148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LLM checks completeness &amp; flags 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22392" y="128016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1161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89320" y="9601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0" y="169164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Populate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148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Auto-fills 20+ Salesforce fields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59752" y="128016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1161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726680" y="9601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223760" y="169164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2376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Notify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69480" y="2148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AE gets pre-filled deal summary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246120"/>
            <a:ext cx="4023360" cy="1554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⏱  Before DocAI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363931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AE manually enters 30+ fields — 25 min/file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Typos, missing data cause re-work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1–2 day underwriter review cycle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246120"/>
            <a:ext cx="4023360" cy="1554480"/>
          </a:xfrm>
          <a:prstGeom prst="rect">
            <a:avLst/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 After DocAI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46320" y="363931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20+ fields auto-populated in &lt;5 min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Confidence scoring flags exceptions only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Underwriter starts at 80% complete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BrokerAI + PriceAI — Growing the Top 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BrokerAI — 24/7 Broker Assistant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28600" cy="228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Instant loan eligibility checks via chat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228600" cy="228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93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Rate sheet Q&amp;A without calling an AE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228600" cy="228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500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Deal status tracking &amp; milestone alerts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16352"/>
            <a:ext cx="228600" cy="228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706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Guideline lookup for edge-case deals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228600" cy="228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912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Auto-generate broker commission estimates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PriceAI — Dynamic Pricing Engine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846320" y="1508760"/>
          <a:ext cx="4023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484632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AI pricing adapts to market conditions, improving spreads without losing deals.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1605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Combined ROI: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BrokerAI reduces AE load by 40% on routine queries  •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PriceAI improves spread by est. 15–25bps per deal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&amp; Business 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AE time saved / 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Before: 25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After: 5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810512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improvement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402336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Underwriter 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Before: 1–2 days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After: &lt;4 hrs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1810512"/>
            <a:ext cx="10058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75%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0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improvement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68880"/>
            <a:ext cx="40233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Broker routine queries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Before: AE call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After: AI chat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3273552"/>
            <a:ext cx="1005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2735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108960" y="32735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improvement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663440" y="24688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468880"/>
            <a:ext cx="40233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Pricing accuracy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Before: Static sheet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After: Real-time AI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0" y="3273552"/>
            <a:ext cx="10058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2735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+20bps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98080" y="32735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improvement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At 75+ deals/month  →  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DocAI alone saves ~375 AE-hours/month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≈ 2.5 full-time equivalent roles.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Tech Stack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82880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Presentation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91440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Broker Portal (Salesforce) • Borrower App • Internal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00200"/>
            <a:ext cx="18288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0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Services Layer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160020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Claude API (LLM) • GPT-4 Vision (OCR) • Custom ML Models (Pricing)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86000"/>
            <a:ext cx="18288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860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Pipeline Layer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228600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Document Parser • ETL • Vector Store (RAG) • Feature Store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18288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71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Integration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297180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Salesforce API • Loan Origination System • Title &amp; Appraisal APIs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57600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576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365760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AWS / GCP • PostgreSQL • Redis Cache • CI/CD (GitHub Actions)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All modules integrate with IceCap's existing Salesforce infrastructure — no rip-and-replace.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Implementation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Days 1–30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Discovery &amp; Foundation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9222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Embed with underwriting &amp; AE teams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9514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Map all manual document touchpoints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9806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Audit Salesforce schema &amp; API access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009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Establish baseline KPIs (time/file, error rate)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914400"/>
            <a:ext cx="265176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932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Days 31–60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 &amp; Pilot DocAI + BrokerAI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182880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79222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Deploy document extraction pipeline (MVP)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33172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29514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Integrate with Salesforce fields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8346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79806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Launch BrokerAI RAG chatbot for BluFin team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33756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3009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Measure: AE time, broker escalations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914400"/>
            <a:ext cx="265176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32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Days 61–90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Scale &amp; Launch PriceAI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8288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79222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Deploy UnderwriteAI memo generator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3317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29514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Build PriceAI v1 using historical deal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283464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79806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Present ROI dashboard to leadership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3375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3009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Propose Phase 2 roadmap (AVM, risk monitor)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IceCap's speed is your moat.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makes it insurmountable.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2423160"/>
            <a:ext cx="54864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DocAI cuts per-file prep time by 80%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0358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BrokerAI handles 40% of routine queries — freeing AEs for relationship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4655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346557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PriceAI improves loan spread by 15–25bps without losing deals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89534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38953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Full Salesforce integration — zero disruption to existing workflow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0" y="4389120"/>
            <a:ext cx="3291840" cy="502920"/>
          </a:xfrm>
          <a:prstGeom prst="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4389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Let's build it — starting Day 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IceCap AI Platform — Strategic Pitch</dc:title>
  <dc:subject>PptxGenJS Presentation</dc:subject>
  <dc:creator>AI Engineer Candidate</dc:creator>
  <cp:lastModifiedBy>AI Engineer Candidate</cp:lastModifiedBy>
  <cp:revision>1</cp:revision>
  <dcterms:created xsi:type="dcterms:W3CDTF">2026-05-08T10:07:00Z</dcterms:created>
  <dcterms:modified xsi:type="dcterms:W3CDTF">2026-05-08T10:07:00Z</dcterms:modified>
</cp:coreProperties>
</file>